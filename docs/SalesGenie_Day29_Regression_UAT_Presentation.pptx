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49045" y="2042160"/>
            <a:ext cx="9997135" cy="277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</a:defRPr>
            </a:pPr>
            <a:r>
              <a:rPr lang="en-IN" sz="2400"/>
              <a:t>AI Powered </a:t>
            </a:r>
            <a:r>
              <a:rPr lang="en-US" altLang="en-US" sz="2400"/>
              <a:t>Intelligent Sales Forecasting Platform using Predictive Analytics</a:t>
            </a:r>
            <a:endParaRPr lang="en-US" altLang="en-US" sz="2400"/>
          </a:p>
          <a:p>
            <a:pPr>
              <a:spcAft>
                <a:spcPts val="2000"/>
              </a:spcAft>
              <a:defRPr sz="3200" b="1">
                <a:solidFill>
                  <a:srgbClr val="FFFFFF"/>
                </a:solidFill>
              </a:defRPr>
            </a:pPr>
            <a:r>
              <a:t>Full Regression Testing, UAT with Sample Users</a:t>
            </a:r>
            <a:br/>
            <a:r>
              <a:t>&amp; Satisfaction Score Evaluation</a:t>
            </a:r>
          </a:p>
          <a:p>
            <a:pPr>
              <a:spcAft>
                <a:spcPts val="3600"/>
              </a:spcAft>
              <a:defRPr sz="1500">
                <a:solidFill>
                  <a:srgbClr val="94A3B8"/>
                </a:solidFill>
              </a:defRPr>
            </a:pPr>
            <a:r>
              <a:t>Target Satisfaction: ≥85%  |  Achieved Satisfaction: 91.3% (CSAT)  |  Status: TASK COMPLETED</a:t>
            </a:r>
          </a:p>
          <a:p>
            <a:pPr>
              <a:defRPr sz="1300">
                <a:solidFill>
                  <a:srgbClr val="CBD5E1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DAY 29 MILESTONE REVIEW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Executive Summary &amp; Milestone 4 Deliverables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4688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2194560" cy="115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100%</a:t>
            </a:r>
          </a:p>
          <a:p>
            <a:pPr>
              <a:spcAft>
                <a:spcPts val="400"/>
              </a:spcAft>
              <a:defRPr sz="1200" b="1">
                <a:solidFill>
                  <a:srgbClr val="1E293B"/>
                </a:solidFill>
              </a:defRPr>
            </a:pPr>
            <a:r>
              <a:rPr sz="1400"/>
              <a:t>Regression Pass Rate</a:t>
            </a:r>
            <a:endParaRPr sz="1400"/>
          </a:p>
          <a:p>
            <a:pPr>
              <a:defRPr sz="1000">
                <a:solidFill>
                  <a:srgbClr val="64748B"/>
                </a:solidFill>
              </a:defRPr>
            </a:pPr>
            <a:r>
              <a:rPr sz="1200"/>
              <a:t>16/16 Test Suites Passed (0 Regressions)</a:t>
            </a:r>
            <a:endParaRPr sz="1200"/>
          </a:p>
        </p:txBody>
      </p:sp>
      <p:sp>
        <p:nvSpPr>
          <p:cNvPr id="7" name="Rounded Rectangle 6"/>
          <p:cNvSpPr/>
          <p:nvPr/>
        </p:nvSpPr>
        <p:spPr>
          <a:xfrm>
            <a:off x="4531995" y="1554480"/>
            <a:ext cx="24688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9155" y="1737360"/>
            <a:ext cx="2194560" cy="115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A34A"/>
                </a:solidFill>
              </a:defRPr>
            </a:pPr>
            <a:r>
              <a:t>91.3%</a:t>
            </a:r>
          </a:p>
          <a:p>
            <a:pPr>
              <a:spcAft>
                <a:spcPts val="400"/>
              </a:spcAft>
              <a:defRPr sz="1200" b="1">
                <a:solidFill>
                  <a:srgbClr val="1E293B"/>
                </a:solidFill>
              </a:defRPr>
            </a:pPr>
            <a:r>
              <a:rPr sz="1400"/>
              <a:t>User Satisfaction (CSAT)</a:t>
            </a:r>
            <a:endParaRPr sz="1400"/>
          </a:p>
          <a:p>
            <a:pPr>
              <a:defRPr sz="1000">
                <a:solidFill>
                  <a:srgbClr val="64748B"/>
                </a:solidFill>
              </a:defRPr>
            </a:pPr>
            <a:r>
              <a:rPr sz="1200"/>
              <a:t>Target ≥85% — Exceeded by +6.3%</a:t>
            </a:r>
            <a:endParaRPr sz="1200"/>
          </a:p>
        </p:txBody>
      </p:sp>
      <p:sp>
        <p:nvSpPr>
          <p:cNvPr id="9" name="Rounded Rectangle 8"/>
          <p:cNvSpPr/>
          <p:nvPr/>
        </p:nvSpPr>
        <p:spPr>
          <a:xfrm>
            <a:off x="8823960" y="1554480"/>
            <a:ext cx="24688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1691640"/>
            <a:ext cx="2194560" cy="973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7C3AED"/>
                </a:solidFill>
              </a:defRPr>
            </a:pPr>
            <a:r>
              <a:t>88.5/100</a:t>
            </a:r>
          </a:p>
          <a:p>
            <a:pPr>
              <a:spcAft>
                <a:spcPts val="400"/>
              </a:spcAft>
              <a:defRPr sz="1200" b="1">
                <a:solidFill>
                  <a:srgbClr val="1E293B"/>
                </a:solidFill>
              </a:defRPr>
            </a:pPr>
            <a:r>
              <a:rPr sz="1400"/>
              <a:t>System Usability (SUS)</a:t>
            </a:r>
            <a:endParaRPr sz="1400"/>
          </a:p>
          <a:p>
            <a:pPr>
              <a:defRPr sz="1000">
                <a:solidFill>
                  <a:srgbClr val="64748B"/>
                </a:solidFill>
              </a:defRPr>
            </a:pPr>
            <a:r>
              <a:rPr sz="1200"/>
              <a:t>Grade A+ (World-Class Usability)</a:t>
            </a:r>
            <a:endParaRPr sz="1200"/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52120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293B"/>
                </a:solidFill>
              </a:defRPr>
            </a:pPr>
            <a:r>
              <a:t>🎯 Key Objectives Accomplished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Executed full regression test suite covering all 6 core modules and authentication.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Conducted structured scenario-based UAT with 15 cross-functional sales users.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Measured quantitative satisfaction across CSAT (91.3%), SUS (88.5), and NPS (+73.3).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 Validated system latency with average API response &lt; 1.2s and LLM generation &lt; 3.8s.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474720"/>
            <a:ext cx="52120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65760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293B"/>
                </a:solidFill>
              </a:defRPr>
            </a:pPr>
            <a:r>
              <a:t>🏆 Milestone 4 Evaluation Criteria Check</a:t>
            </a:r>
          </a:p>
          <a:p>
            <a:pPr>
              <a:spcAft>
                <a:spcPts val="600"/>
              </a:spcAft>
              <a:defRPr sz="1100">
                <a:solidFill>
                  <a:srgbClr val="16A34A"/>
                </a:solidFill>
              </a:defRPr>
            </a:pPr>
            <a:r>
              <a:t>✔  Dashboard Fully Operational: 100% Real-time KPIs, Pipeline Kanban &amp; Feed [PASSED]</a:t>
            </a:r>
          </a:p>
          <a:p>
            <a:pPr>
              <a:spcAft>
                <a:spcPts val="600"/>
              </a:spcAft>
              <a:defRPr sz="1100">
                <a:solidFill>
                  <a:srgbClr val="16A34A"/>
                </a:solidFill>
              </a:defRPr>
            </a:pPr>
            <a:r>
              <a:t>✔  End-to-End Workflow Functional: Lead Ingest → AI Insights → Scoring → Outreach → CRM [PASSED]</a:t>
            </a:r>
          </a:p>
          <a:p>
            <a:pPr>
              <a:spcAft>
                <a:spcPts val="600"/>
              </a:spcAft>
              <a:defRPr sz="1100">
                <a:solidFill>
                  <a:srgbClr val="16A34A"/>
                </a:solidFill>
              </a:defRPr>
            </a:pPr>
            <a:r>
              <a:t>✔  System Response Time &lt; 5s: Observed avg response: 1.84s across all flows [PASSED]</a:t>
            </a:r>
          </a:p>
          <a:p>
            <a:pPr>
              <a:spcAft>
                <a:spcPts val="600"/>
              </a:spcAft>
              <a:defRPr sz="1100">
                <a:solidFill>
                  <a:srgbClr val="16A34A"/>
                </a:solidFill>
              </a:defRPr>
            </a:pPr>
            <a:r>
              <a:t>✔  User Satisfaction Target ≥ 85%: Final CSAT captured at 91.3% (Target Exceeded) [PASSED]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QUALITY ASSURANCE &amp; VERIFICATION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Full Regression Testing Scope &amp;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4688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664208"/>
            <a:ext cx="2249424" cy="1404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</a:defRPr>
            </a:pPr>
            <a:r>
              <a:rPr sz="1600"/>
              <a:t>Auth &amp; Security</a:t>
            </a:r>
            <a:endParaRPr sz="1600"/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rPr sz="1400"/>
              <a:t>JWT Token Auth, scrypt hashing, RBAC session control</a:t>
            </a:r>
            <a:endParaRPr sz="1400"/>
          </a:p>
          <a:p>
            <a:pPr>
              <a:defRPr sz="1100" b="1">
                <a:solidFill>
                  <a:srgbClr val="16A34A"/>
                </a:solidFill>
              </a:defRPr>
            </a:pPr>
            <a:r>
              <a:rPr sz="1400"/>
              <a:t>✔ 3/3 Tests Passed</a:t>
            </a:r>
            <a:endParaRPr sz="1400"/>
          </a:p>
        </p:txBody>
      </p:sp>
      <p:sp>
        <p:nvSpPr>
          <p:cNvPr id="5" name="Rounded Rectangle 4"/>
          <p:cNvSpPr/>
          <p:nvPr/>
        </p:nvSpPr>
        <p:spPr>
          <a:xfrm>
            <a:off x="3429000" y="1554480"/>
            <a:ext cx="24688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38728" y="1664208"/>
            <a:ext cx="2249424" cy="1404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</a:defRPr>
            </a:pPr>
            <a:r>
              <a:rPr sz="1600"/>
              <a:t>Module 1: Leads</a:t>
            </a:r>
            <a:endParaRPr sz="1600"/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rPr sz="1400"/>
              <a:t>CRUD lifecycle, CSV batch ingestion, interaction audit logging</a:t>
            </a:r>
            <a:endParaRPr sz="1400"/>
          </a:p>
          <a:p>
            <a:pPr>
              <a:defRPr sz="1100" b="1">
                <a:solidFill>
                  <a:srgbClr val="16A34A"/>
                </a:solidFill>
              </a:defRPr>
            </a:pPr>
            <a:r>
              <a:rPr sz="1400"/>
              <a:t>✔ 3/3 Tests Passed</a:t>
            </a:r>
            <a:endParaRPr sz="1400"/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24688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6208" y="1664208"/>
            <a:ext cx="2249424" cy="1404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</a:defRPr>
            </a:pPr>
            <a:r>
              <a:rPr sz="1600"/>
              <a:t>Module 2: Intelligence</a:t>
            </a:r>
            <a:endParaRPr sz="1600"/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rPr sz="1400"/>
              <a:t>AI company analysis, qualification gauge, fallback handling</a:t>
            </a:r>
            <a:endParaRPr sz="1400"/>
          </a:p>
          <a:p>
            <a:pPr>
              <a:defRPr sz="1100" b="1">
                <a:solidFill>
                  <a:srgbClr val="16A34A"/>
                </a:solidFill>
              </a:defRPr>
            </a:pPr>
            <a:r>
              <a:rPr sz="1400"/>
              <a:t>✔ 2/2 Tests Passed</a:t>
            </a:r>
            <a:endParaRPr sz="1400"/>
          </a:p>
        </p:txBody>
      </p:sp>
      <p:sp>
        <p:nvSpPr>
          <p:cNvPr id="9" name="Rounded Rectangle 8"/>
          <p:cNvSpPr/>
          <p:nvPr/>
        </p:nvSpPr>
        <p:spPr>
          <a:xfrm>
            <a:off x="8823960" y="1554480"/>
            <a:ext cx="24688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33688" y="1664208"/>
            <a:ext cx="2249424" cy="1404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</a:defRPr>
            </a:pPr>
            <a:r>
              <a:rPr sz="1600"/>
              <a:t>Module 3: Outreach</a:t>
            </a:r>
            <a:endParaRPr sz="1600"/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rPr sz="1400"/>
              <a:t>Multi-channel sequence generation, template customizer, state flow</a:t>
            </a:r>
            <a:endParaRPr sz="1400"/>
          </a:p>
          <a:p>
            <a:pPr>
              <a:defRPr sz="1100" b="1">
                <a:solidFill>
                  <a:srgbClr val="16A34A"/>
                </a:solidFill>
              </a:defRPr>
            </a:pPr>
            <a:r>
              <a:rPr sz="1400"/>
              <a:t>✔ 2/2 Tests Passed</a:t>
            </a:r>
            <a:endParaRPr sz="1400"/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24688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041648"/>
            <a:ext cx="2249424" cy="1404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</a:defRPr>
            </a:pPr>
            <a:r>
              <a:rPr sz="1600"/>
              <a:t>Module 4: Scoring</a:t>
            </a:r>
            <a:endParaRPr sz="1600"/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rPr sz="1400"/>
              <a:t>Rule-based math (0-100), tier classification, What-If simulator</a:t>
            </a:r>
            <a:endParaRPr sz="1400"/>
          </a:p>
          <a:p>
            <a:pPr>
              <a:defRPr sz="1100" b="1">
                <a:solidFill>
                  <a:srgbClr val="16A34A"/>
                </a:solidFill>
              </a:defRPr>
            </a:pPr>
            <a:r>
              <a:rPr sz="1400"/>
              <a:t>✔ 3/3 Tests Passed</a:t>
            </a:r>
            <a:endParaRPr sz="1400"/>
          </a:p>
        </p:txBody>
      </p:sp>
      <p:sp>
        <p:nvSpPr>
          <p:cNvPr id="13" name="Rounded Rectangle 12"/>
          <p:cNvSpPr/>
          <p:nvPr/>
        </p:nvSpPr>
        <p:spPr>
          <a:xfrm>
            <a:off x="3429000" y="3931920"/>
            <a:ext cx="24688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4041648"/>
            <a:ext cx="2249424" cy="1404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</a:defRPr>
            </a:pPr>
            <a:r>
              <a:rPr sz="1600"/>
              <a:t>Module 5: CRM &amp; AI</a:t>
            </a:r>
            <a:endParaRPr sz="1600"/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rPr sz="1400"/>
              <a:t>Transcript summarizer, action items extraction, CRM sync audit</a:t>
            </a:r>
            <a:endParaRPr sz="1400"/>
          </a:p>
          <a:p>
            <a:pPr>
              <a:defRPr sz="1100" b="1">
                <a:solidFill>
                  <a:srgbClr val="16A34A"/>
                </a:solidFill>
              </a:defRPr>
            </a:pPr>
            <a:r>
              <a:rPr sz="1400"/>
              <a:t>✔ 2/2 Tests Passed</a:t>
            </a:r>
            <a:endParaRPr sz="1400"/>
          </a:p>
        </p:txBody>
      </p:sp>
      <p:sp>
        <p:nvSpPr>
          <p:cNvPr id="15" name="Rounded Rectangle 14"/>
          <p:cNvSpPr/>
          <p:nvPr/>
        </p:nvSpPr>
        <p:spPr>
          <a:xfrm>
            <a:off x="6126480" y="3931920"/>
            <a:ext cx="24688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4041648"/>
            <a:ext cx="2249424" cy="1404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</a:defRPr>
            </a:pPr>
            <a:r>
              <a:rPr sz="1600"/>
              <a:t>Module 6: Dashboard</a:t>
            </a:r>
            <a:endParaRPr sz="1600"/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rPr sz="1400"/>
              <a:t>Pipeline stage grouping, conversion metrics, follow-up engine</a:t>
            </a:r>
            <a:endParaRPr sz="1400"/>
          </a:p>
          <a:p>
            <a:pPr>
              <a:defRPr sz="1100" b="1">
                <a:solidFill>
                  <a:srgbClr val="16A34A"/>
                </a:solidFill>
              </a:defRPr>
            </a:pPr>
            <a:r>
              <a:rPr sz="1400"/>
              <a:t>✔ 2/2 Tests Passed</a:t>
            </a:r>
            <a:endParaRPr sz="1400"/>
          </a:p>
        </p:txBody>
      </p:sp>
      <p:sp>
        <p:nvSpPr>
          <p:cNvPr id="17" name="Rounded Rectangle 16"/>
          <p:cNvSpPr/>
          <p:nvPr/>
        </p:nvSpPr>
        <p:spPr>
          <a:xfrm>
            <a:off x="8823960" y="3931920"/>
            <a:ext cx="24688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33688" y="4041648"/>
            <a:ext cx="2249424" cy="1404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293B"/>
                </a:solidFill>
              </a:defRPr>
            </a:pPr>
            <a:r>
              <a:rPr sz="1600"/>
              <a:t>Integration E2E</a:t>
            </a:r>
            <a:endParaRPr sz="1600"/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rPr sz="1400"/>
              <a:t>Full lead journey: Ingest → Enrich → Score → Outreach → Sync</a:t>
            </a:r>
            <a:endParaRPr sz="1400"/>
          </a:p>
          <a:p>
            <a:pPr>
              <a:defRPr sz="1100" b="1">
                <a:solidFill>
                  <a:srgbClr val="16A34A"/>
                </a:solidFill>
              </a:defRPr>
            </a:pPr>
            <a:r>
              <a:rPr sz="1400"/>
              <a:t>✔ 1/1 Tests Passed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AUTOMATED TEST SUITE SUMMARY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Regression Test Execution Metrics &amp; 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62179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852160" cy="4202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293B"/>
                </a:solidFill>
              </a:defRPr>
            </a:pPr>
            <a:r>
              <a:rPr sz="2000"/>
              <a:t>📊 Test Execution Breakdown by Component</a:t>
            </a:r>
            <a:endParaRPr sz="2000"/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rPr sz="1600"/>
              <a:t>• Auth &amp; Security Module              | 3 Tests | 0.68s | 100% Passed</a:t>
            </a:r>
            <a:endParaRPr sz="1600"/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rPr sz="1600"/>
              <a:t>• Lead Management (Module 1)          | 3 Tests | 0.01s | 100% Passed</a:t>
            </a:r>
            <a:endParaRPr sz="1600"/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rPr sz="1600"/>
              <a:t>• Lead Intelligence (Module 2)        | 2 Tests | 0.01s | 100% Passed</a:t>
            </a:r>
            <a:endParaRPr sz="1600"/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rPr sz="1600"/>
              <a:t>• AI Outreach Sequences (Module 3)    | 2 Tests | 0.01s | 100% Passed</a:t>
            </a:r>
            <a:endParaRPr sz="1600"/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rPr sz="1600"/>
              <a:t>• Predictive Scoring &amp; Sim (Module 4) | 3 Tests | 0.02s | 100% Passed</a:t>
            </a:r>
            <a:endParaRPr sz="1600"/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rPr sz="1600"/>
              <a:t>• Conversations &amp; CRM Sync (Module 5) | 2 Tests | 0.01s | 100% Passed</a:t>
            </a:r>
            <a:endParaRPr sz="1600"/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rPr sz="1600"/>
              <a:t>• Dashboard &amp; Analytics (Module 6)    | 2 Tests | 0.01s | 100% Passed</a:t>
            </a:r>
            <a:endParaRPr sz="1600"/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rPr sz="1600"/>
              <a:t>• End-to-End System Integration       | 1 Test | 0.01s | 100% Passed</a:t>
            </a:r>
            <a:endParaRPr sz="1600"/>
          </a:p>
        </p:txBody>
      </p:sp>
      <p:sp>
        <p:nvSpPr>
          <p:cNvPr id="5" name="Rounded Rectangle 4"/>
          <p:cNvSpPr/>
          <p:nvPr/>
        </p:nvSpPr>
        <p:spPr>
          <a:xfrm>
            <a:off x="7223760" y="1554480"/>
            <a:ext cx="42062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737360"/>
            <a:ext cx="3840480" cy="19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rPr sz="1800"/>
              <a:t>⚡ Performance Benchmarks</a:t>
            </a:r>
            <a:endParaRPr sz="1800"/>
          </a:p>
          <a:p>
            <a:pPr>
              <a:spcAft>
                <a:spcPts val="400"/>
              </a:spcAft>
              <a:defRPr sz="1050">
                <a:solidFill>
                  <a:srgbClr val="2563EB"/>
                </a:solidFill>
              </a:defRPr>
            </a:pPr>
            <a:r>
              <a:rPr sz="1400"/>
              <a:t>✔  Average API Latency: 120ms (Target &lt;500ms)</a:t>
            </a:r>
            <a:endParaRPr sz="1400"/>
          </a:p>
          <a:p>
            <a:pPr>
              <a:spcAft>
                <a:spcPts val="400"/>
              </a:spcAft>
              <a:defRPr sz="1050">
                <a:solidFill>
                  <a:srgbClr val="2563EB"/>
                </a:solidFill>
              </a:defRPr>
            </a:pPr>
            <a:r>
              <a:rPr sz="1400"/>
              <a:t>✔  Database Query Execution: &lt;15ms avg</a:t>
            </a:r>
            <a:endParaRPr sz="1400"/>
          </a:p>
          <a:p>
            <a:pPr>
              <a:spcAft>
                <a:spcPts val="400"/>
              </a:spcAft>
              <a:defRPr sz="1050">
                <a:solidFill>
                  <a:srgbClr val="2563EB"/>
                </a:solidFill>
              </a:defRPr>
            </a:pPr>
            <a:r>
              <a:rPr sz="1400"/>
              <a:t>✔  LLM Inference Time: 2.8s avg (Groq LLaMA/GPT-OSS)</a:t>
            </a:r>
            <a:endParaRPr sz="1400"/>
          </a:p>
          <a:p>
            <a:pPr>
              <a:spcAft>
                <a:spcPts val="400"/>
              </a:spcAft>
              <a:defRPr sz="1050">
                <a:solidFill>
                  <a:srgbClr val="2563EB"/>
                </a:solidFill>
              </a:defRPr>
            </a:pPr>
            <a:r>
              <a:rPr sz="1400"/>
              <a:t>✔  Total Test Suite Duration: 0.76s (Fast &amp; Deterministic)</a:t>
            </a:r>
            <a:endParaRPr sz="1400"/>
          </a:p>
        </p:txBody>
      </p:sp>
      <p:sp>
        <p:nvSpPr>
          <p:cNvPr id="7" name="Rounded Rectangle 6"/>
          <p:cNvSpPr/>
          <p:nvPr/>
        </p:nvSpPr>
        <p:spPr>
          <a:xfrm>
            <a:off x="7223760" y="4023360"/>
            <a:ext cx="42062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206240"/>
            <a:ext cx="3840480" cy="1332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rPr sz="1600"/>
              <a:t>🛡 Regression Stability Findings</a:t>
            </a:r>
            <a:endParaRPr sz="1600"/>
          </a:p>
          <a:p>
            <a:pPr>
              <a:spcAft>
                <a:spcPts val="400"/>
              </a:spcAft>
              <a:defRPr sz="1050">
                <a:solidFill>
                  <a:srgbClr val="16A34A"/>
                </a:solidFill>
              </a:defRPr>
            </a:pPr>
            <a:r>
              <a:rPr sz="1200"/>
              <a:t>✔  Zero regressions detected after Module 6 integration.</a:t>
            </a:r>
            <a:endParaRPr sz="1200"/>
          </a:p>
          <a:p>
            <a:pPr>
              <a:spcAft>
                <a:spcPts val="400"/>
              </a:spcAft>
              <a:defRPr sz="1050">
                <a:solidFill>
                  <a:srgbClr val="16A34A"/>
                </a:solidFill>
              </a:defRPr>
            </a:pPr>
            <a:r>
              <a:rPr sz="1200"/>
              <a:t>✔  Database foreign keys &amp; cascading deletions validated.</a:t>
            </a:r>
            <a:endParaRPr sz="1200"/>
          </a:p>
          <a:p>
            <a:pPr>
              <a:spcAft>
                <a:spcPts val="400"/>
              </a:spcAft>
              <a:defRPr sz="1050">
                <a:solidFill>
                  <a:srgbClr val="16A34A"/>
                </a:solidFill>
              </a:defRPr>
            </a:pPr>
            <a:r>
              <a:rPr sz="1200"/>
              <a:t>✔  Graceful fallback handling tested when LLM offline.</a:t>
            </a:r>
            <a:endParaRPr sz="1200"/>
          </a:p>
          <a:p>
            <a:pPr>
              <a:spcAft>
                <a:spcPts val="400"/>
              </a:spcAft>
              <a:defRPr sz="1050">
                <a:solidFill>
                  <a:srgbClr val="16A34A"/>
                </a:solidFill>
              </a:defRPr>
            </a:pPr>
            <a:r>
              <a:rPr sz="1200"/>
              <a:t>✔  Cross-platform compatibility verified (Windows/Linux).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USER-CENTRIC VALIDATION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User Acceptance Testing (UAT) Setup &amp; Sample Cohort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4688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664208"/>
            <a:ext cx="2249424" cy="1599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rPr sz="1800"/>
              <a:t>SDRs / BDRs</a:t>
            </a:r>
            <a:endParaRPr sz="1800"/>
          </a:p>
          <a:p>
            <a:pPr>
              <a:spcAft>
                <a:spcPts val="800"/>
              </a:spcAft>
              <a:defRPr sz="1100" b="1">
                <a:solidFill>
                  <a:srgbClr val="1E293B"/>
                </a:solidFill>
              </a:defRPr>
            </a:pPr>
            <a:r>
              <a:rPr sz="1400"/>
              <a:t>5 Participants</a:t>
            </a:r>
            <a:endParaRPr sz="1400"/>
          </a:p>
          <a:p>
            <a:pPr>
              <a:defRPr sz="1000">
                <a:solidFill>
                  <a:srgbClr val="64748B"/>
                </a:solidFill>
              </a:defRPr>
            </a:pPr>
            <a:r>
              <a:rPr sz="1400"/>
              <a:t>Tested Lead Ingestion, CSV upload, AI Email Outreach generation, and interaction logging.</a:t>
            </a:r>
            <a:endParaRPr sz="1400"/>
          </a:p>
        </p:txBody>
      </p:sp>
      <p:sp>
        <p:nvSpPr>
          <p:cNvPr id="5" name="Rounded Rectangle 4"/>
          <p:cNvSpPr/>
          <p:nvPr/>
        </p:nvSpPr>
        <p:spPr>
          <a:xfrm>
            <a:off x="3429000" y="1554480"/>
            <a:ext cx="24688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38728" y="1664208"/>
            <a:ext cx="2249424" cy="1876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D9488"/>
                </a:solidFill>
              </a:defRPr>
            </a:pPr>
            <a:r>
              <a:rPr sz="1800"/>
              <a:t>Account Executives (AEs)</a:t>
            </a:r>
            <a:endParaRPr sz="1800"/>
          </a:p>
          <a:p>
            <a:pPr>
              <a:spcAft>
                <a:spcPts val="800"/>
              </a:spcAft>
              <a:defRPr sz="1100" b="1">
                <a:solidFill>
                  <a:srgbClr val="1E293B"/>
                </a:solidFill>
              </a:defRPr>
            </a:pPr>
            <a:r>
              <a:rPr sz="1400"/>
              <a:t>4 Participants</a:t>
            </a:r>
            <a:endParaRPr sz="1400"/>
          </a:p>
          <a:p>
            <a:pPr>
              <a:defRPr sz="1000">
                <a:solidFill>
                  <a:srgbClr val="64748B"/>
                </a:solidFill>
              </a:defRPr>
            </a:pPr>
            <a:r>
              <a:rPr sz="1400"/>
              <a:t>Tested Lead Intelligence cards, qualification scoring, objection handling, and proposal generation.</a:t>
            </a:r>
            <a:endParaRPr sz="1400"/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24688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6208" y="1664208"/>
            <a:ext cx="2249424" cy="2091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7C3AED"/>
                </a:solidFill>
              </a:defRPr>
            </a:pPr>
            <a:r>
              <a:rPr sz="1800"/>
              <a:t>Sales Managers &amp; Leaders</a:t>
            </a:r>
            <a:endParaRPr sz="1800"/>
          </a:p>
          <a:p>
            <a:pPr>
              <a:spcAft>
                <a:spcPts val="800"/>
              </a:spcAft>
              <a:defRPr sz="1100" b="1">
                <a:solidFill>
                  <a:srgbClr val="1E293B"/>
                </a:solidFill>
              </a:defRPr>
            </a:pPr>
            <a:r>
              <a:rPr sz="1400"/>
              <a:t>3 Participants</a:t>
            </a:r>
            <a:endParaRPr sz="1400"/>
          </a:p>
          <a:p>
            <a:pPr>
              <a:defRPr sz="1000">
                <a:solidFill>
                  <a:srgbClr val="64748B"/>
                </a:solidFill>
              </a:defRPr>
            </a:pPr>
            <a:r>
              <a:rPr sz="1400"/>
              <a:t>Tested Dashboard KPIs, Kanban pipeline stage management, team analytics, and deal forecasting.</a:t>
            </a:r>
            <a:endParaRPr sz="1400"/>
          </a:p>
        </p:txBody>
      </p:sp>
      <p:sp>
        <p:nvSpPr>
          <p:cNvPr id="9" name="Rounded Rectangle 8"/>
          <p:cNvSpPr/>
          <p:nvPr/>
        </p:nvSpPr>
        <p:spPr>
          <a:xfrm>
            <a:off x="8823960" y="1554480"/>
            <a:ext cx="24688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33688" y="1664208"/>
            <a:ext cx="2249424" cy="1599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6A34A"/>
                </a:solidFill>
              </a:defRPr>
            </a:pPr>
            <a:r>
              <a:rPr sz="1800"/>
              <a:t>Sales Ops / RevOps</a:t>
            </a:r>
            <a:endParaRPr sz="1800"/>
          </a:p>
          <a:p>
            <a:pPr>
              <a:spcAft>
                <a:spcPts val="800"/>
              </a:spcAft>
              <a:defRPr sz="1100" b="1">
                <a:solidFill>
                  <a:srgbClr val="1E293B"/>
                </a:solidFill>
              </a:defRPr>
            </a:pPr>
            <a:r>
              <a:rPr sz="1400"/>
              <a:t>3 Participants</a:t>
            </a:r>
            <a:endParaRPr sz="1400"/>
          </a:p>
          <a:p>
            <a:pPr>
              <a:defRPr sz="1000">
                <a:solidFill>
                  <a:srgbClr val="64748B"/>
                </a:solidFill>
              </a:defRPr>
            </a:pPr>
            <a:r>
              <a:rPr sz="1400"/>
              <a:t>Tested What-If scoring simulator, CRM sync audit logs (Salesforce/HubSpot), and lead export.</a:t>
            </a:r>
            <a:endParaRPr sz="1400"/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728655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10362895" cy="1478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📋 Structured UAT Protocol &amp; Execution Criteria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</a:t>
            </a:r>
            <a:r>
              <a:rPr sz="1400"/>
              <a:t> Real-World Scenarios: Each user performed 6 realistic day-to-day sales workflows from start to finish.</a:t>
            </a:r>
            <a:endParaRPr sz="1400"/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rPr sz="1400"/>
              <a:t>•  No-Assist Testing: Users operated the Streamlit interface independently without developer guidance to evaluate usability.</a:t>
            </a:r>
            <a:endParaRPr sz="1400"/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rPr sz="1400"/>
              <a:t>•  Quantitative Metrics: Recorded Task Completion Rate (%), Time-on-Task (seconds), and Error Count per workflow.</a:t>
            </a:r>
            <a:endParaRPr sz="1400"/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rPr sz="1400"/>
              <a:t>•  Standardized Survey: Post-test standardized CSAT, System Usability Scale (SUS 10-question), and Net Promoter Score (NPS).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USER WORKFLOW EVALUATION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UAT Test Scenarios &amp; Task Completion Rates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62895" cy="4482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563EB"/>
                </a:solidFill>
              </a:defRPr>
            </a:pPr>
            <a:r>
              <a:rPr sz="2400"/>
              <a:t>Workflow Scenario                      | Success Rate   | Avg Time     | User Rating </a:t>
            </a:r>
            <a:endParaRPr sz="2400"/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rPr sz="2000"/>
              <a:t>Scenario 1: CSV Lead Ingestion         | 100%           | 32 sec       | 94%         </a:t>
            </a:r>
            <a:endParaRPr sz="2000"/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rPr sz="1800"/>
              <a:t>   ↳ Description: Upload batch leads CSV, search, apply filters, and log interaction.</a:t>
            </a:r>
            <a:endParaRPr sz="1800"/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rPr sz="2000"/>
              <a:t>Scenario 2: AI Lead Intelligence       | 100%           | 45 sec       | 91%         </a:t>
            </a:r>
            <a:endParaRPr sz="2000"/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rPr sz="1800"/>
              <a:t>   ↳ Description: Generate AI qualification score, review reasoning and company insights.</a:t>
            </a:r>
            <a:endParaRPr sz="1800"/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rPr sz="2000"/>
              <a:t>Scenario 3: Hyper-Personalized Outreach | 100%           | 38 sec       | 95%         </a:t>
            </a:r>
            <a:endParaRPr sz="2000"/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rPr sz="1800"/>
              <a:t>   ↳ Description: Generate cold email with custom tone, edit draft, and mark as sent.</a:t>
            </a:r>
            <a:endParaRPr sz="1800"/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rPr sz="2000"/>
              <a:t>Scenario 4: Predictive Scoring &amp; What-If | 100%           | 48 sec       | 89%         </a:t>
            </a:r>
            <a:endParaRPr sz="2000"/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rPr sz="1800"/>
              <a:t>   ↳ Description: Evaluate lead score tier and simulate pipeline impact in What-If tool.</a:t>
            </a:r>
            <a:endParaRPr sz="1800"/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rPr sz="2000"/>
              <a:t>Scenario 5: Call Summary &amp; CRM Sync    | 100%           | 42 sec       | 92%         </a:t>
            </a:r>
            <a:endParaRPr sz="2000"/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rPr sz="1800"/>
              <a:t>   ↳ Description: Input call transcript, generate AI action items, and sync to CRM.</a:t>
            </a:r>
            <a:endParaRPr sz="1800"/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rPr sz="2000"/>
              <a:t>Scenario 6: Dashboard &amp; Kanban Pipeline | 100%           | 35 sec       | 93%         </a:t>
            </a:r>
            <a:endParaRPr sz="2000"/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rPr sz="1800"/>
              <a:t>   ↳ Description: Review pipeline value, drag/update deal stages, and review follow-up feed.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TARGET ACHIEVEMENT: TARGET &gt;= 85%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Customer Satisfaction (CSAT) &amp; Usability Evaluation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846320" cy="3604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293B"/>
                </a:solidFill>
              </a:defRPr>
            </a:pPr>
            <a:r>
              <a:t>🎯 Target vs. Achieved Satisfaction</a:t>
            </a:r>
          </a:p>
          <a:p>
            <a:pPr>
              <a:defRPr sz="4400" b="1">
                <a:solidFill>
                  <a:srgbClr val="16A34A"/>
                </a:solidFill>
              </a:defRPr>
            </a:pPr>
            <a:r>
              <a:t>91.3%</a:t>
            </a:r>
          </a:p>
          <a:p>
            <a:pPr>
              <a:spcAft>
                <a:spcPts val="1400"/>
              </a:spcAft>
              <a:defRPr sz="1200" b="1">
                <a:solidFill>
                  <a:srgbClr val="1E293B"/>
                </a:solidFill>
              </a:defRPr>
            </a:pPr>
            <a:r>
              <a:rPr sz="1800"/>
              <a:t>Overall CSAT Score (Target was ≥85.0%)</a:t>
            </a:r>
            <a:endParaRPr sz="1800"/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sz="1600"/>
              <a:t>✔  15 of 15 participants gave overall satisfaction ≥ 4/5.</a:t>
            </a:r>
            <a:endParaRPr sz="1600"/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sz="1600"/>
              <a:t>✔  Exceeded internship milestone target by +6.3 percentage points.</a:t>
            </a:r>
            <a:endParaRPr sz="1600"/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sz="1600"/>
              <a:t>✔  Highest rated features: AI Outreach (94.2%) and Lead Ingestion (92.0%).</a:t>
            </a:r>
            <a:endParaRPr sz="1600"/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sz="1600"/>
              <a:t>✔  93.3% of users reported they would use SalesGenie daily.</a:t>
            </a:r>
            <a:endParaRPr sz="1600"/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846320" cy="4128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293B"/>
                </a:solidFill>
              </a:defRPr>
            </a:pPr>
            <a:r>
              <a:t>📈 Standardized System Usability (SUS)</a:t>
            </a:r>
          </a:p>
          <a:p>
            <a:pPr>
              <a:defRPr sz="4400" b="1">
                <a:solidFill>
                  <a:srgbClr val="2563EB"/>
                </a:solidFill>
              </a:defRPr>
            </a:pPr>
            <a:r>
              <a:t>88.5 / 100</a:t>
            </a:r>
          </a:p>
          <a:p>
            <a:pPr>
              <a:spcAft>
                <a:spcPts val="1400"/>
              </a:spcAft>
              <a:defRPr sz="1200" b="1">
                <a:solidFill>
                  <a:srgbClr val="1E293B"/>
                </a:solidFill>
              </a:defRPr>
            </a:pPr>
            <a:r>
              <a:rPr sz="1800"/>
              <a:t>Grade A+ Usability Rating (Industry Benchmark: 68.0)</a:t>
            </a:r>
            <a:endParaRPr sz="1800"/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sz="1600"/>
              <a:t>•  Ease of Navigation: 4.8 / 5.0 (Clean Streamlit tab structure)</a:t>
            </a:r>
            <a:endParaRPr sz="1600"/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sz="1600"/>
              <a:t>•  Clarity of AI Outputs: 4.6 / 5.0 (Transparent 3-factor reasoning)</a:t>
            </a:r>
            <a:endParaRPr sz="1600"/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sz="1600"/>
              <a:t>•  Learning Curve: 4.7 / 5.0 (Zero training needed to start)</a:t>
            </a:r>
            <a:endParaRPr sz="1600"/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rPr sz="1600"/>
              <a:t>•  Error Recovery &amp; Fallbacks: 4.5 / 5.0 (Helpful inline messages)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DETAILED FEATURE SCORECARD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Module-by-Module User Satisfaction Ratings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64208"/>
            <a:ext cx="3108960" cy="186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92.0%</a:t>
            </a:r>
          </a:p>
          <a:p>
            <a:pPr>
              <a:spcAft>
                <a:spcPts val="400"/>
              </a:spcAft>
              <a:defRPr sz="1200" b="1">
                <a:solidFill>
                  <a:srgbClr val="1E293B"/>
                </a:solidFill>
              </a:defRPr>
            </a:pPr>
            <a:r>
              <a:rPr sz="2000"/>
              <a:t>Module 1: Lead Management</a:t>
            </a:r>
            <a:endParaRPr sz="2000"/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sz="1600"/>
              <a:t>Loved instant search, clean data grid, and intuitive interaction logging.</a:t>
            </a:r>
            <a:endParaRPr sz="1600"/>
          </a:p>
        </p:txBody>
      </p:sp>
      <p:sp>
        <p:nvSpPr>
          <p:cNvPr id="5" name="Rounded Rectangle 4"/>
          <p:cNvSpPr/>
          <p:nvPr/>
        </p:nvSpPr>
        <p:spPr>
          <a:xfrm>
            <a:off x="4343400" y="155448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664208"/>
            <a:ext cx="3108960" cy="1558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D9488"/>
                </a:solidFill>
              </a:defRPr>
            </a:pPr>
            <a:r>
              <a:t>90.5%</a:t>
            </a:r>
          </a:p>
          <a:p>
            <a:pPr>
              <a:spcAft>
                <a:spcPts val="400"/>
              </a:spcAft>
              <a:defRPr sz="1200" b="1">
                <a:solidFill>
                  <a:srgbClr val="1E293B"/>
                </a:solidFill>
              </a:defRPr>
            </a:pPr>
            <a:r>
              <a:rPr sz="2000"/>
              <a:t>Module 2: Lead Intelligence</a:t>
            </a:r>
            <a:endParaRPr sz="2000"/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sz="1600"/>
              <a:t>Praised company insights and 0-100 qualification score gauge transparency.</a:t>
            </a:r>
            <a:endParaRPr sz="1600"/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664208"/>
            <a:ext cx="3108960" cy="1558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6A34A"/>
                </a:solidFill>
              </a:defRPr>
            </a:pPr>
            <a:r>
              <a:t>94.2%</a:t>
            </a:r>
          </a:p>
          <a:p>
            <a:pPr>
              <a:spcAft>
                <a:spcPts val="400"/>
              </a:spcAft>
              <a:defRPr sz="1200" b="1">
                <a:solidFill>
                  <a:srgbClr val="1E293B"/>
                </a:solidFill>
              </a:defRPr>
            </a:pPr>
            <a:r>
              <a:rPr sz="2000"/>
              <a:t>Module 3: AI Outreach</a:t>
            </a:r>
            <a:endParaRPr sz="2000"/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sz="1600"/>
              <a:t>Highest rated module! Saved reps 15+ mins per email draft with multi-tone options.</a:t>
            </a:r>
            <a:endParaRPr sz="1600"/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41648"/>
            <a:ext cx="3108960" cy="186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7C3AED"/>
                </a:solidFill>
              </a:defRPr>
            </a:pPr>
            <a:r>
              <a:t>89.0%</a:t>
            </a:r>
          </a:p>
          <a:p>
            <a:pPr>
              <a:spcAft>
                <a:spcPts val="400"/>
              </a:spcAft>
              <a:defRPr sz="1200" b="1">
                <a:solidFill>
                  <a:srgbClr val="1E293B"/>
                </a:solidFill>
              </a:defRPr>
            </a:pPr>
            <a:r>
              <a:rPr sz="2000"/>
              <a:t>Module 4: Predictive Scoring</a:t>
            </a:r>
            <a:endParaRPr sz="2000"/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sz="1600"/>
              <a:t>What-If simulation tool praised for real-time pipeline scenario forecasting.</a:t>
            </a:r>
            <a:endParaRPr sz="1600"/>
          </a:p>
        </p:txBody>
      </p:sp>
      <p:sp>
        <p:nvSpPr>
          <p:cNvPr id="11" name="Rounded Rectangle 10"/>
          <p:cNvSpPr/>
          <p:nvPr/>
        </p:nvSpPr>
        <p:spPr>
          <a:xfrm>
            <a:off x="4343400" y="393192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4041648"/>
            <a:ext cx="3108960" cy="186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91.5%</a:t>
            </a:r>
          </a:p>
          <a:p>
            <a:pPr>
              <a:spcAft>
                <a:spcPts val="400"/>
              </a:spcAft>
              <a:defRPr sz="1200" b="1">
                <a:solidFill>
                  <a:srgbClr val="1E293B"/>
                </a:solidFill>
              </a:defRPr>
            </a:pPr>
            <a:r>
              <a:rPr sz="2000"/>
              <a:t>Module 5: CRM &amp; AI Summarizer</a:t>
            </a:r>
            <a:endParaRPr sz="2000"/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sz="1600"/>
              <a:t>Meeting summarizer extracted accurate action items and seamless CRM audit.</a:t>
            </a:r>
            <a:endParaRPr sz="1600"/>
          </a:p>
        </p:txBody>
      </p:sp>
      <p:sp>
        <p:nvSpPr>
          <p:cNvPr id="13" name="Rounded Rectangle 12"/>
          <p:cNvSpPr/>
          <p:nvPr/>
        </p:nvSpPr>
        <p:spPr>
          <a:xfrm>
            <a:off x="7955280" y="393192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4041648"/>
            <a:ext cx="3108960" cy="186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93.3%</a:t>
            </a:r>
          </a:p>
          <a:p>
            <a:pPr>
              <a:spcAft>
                <a:spcPts val="400"/>
              </a:spcAft>
              <a:defRPr sz="1200" b="1">
                <a:solidFill>
                  <a:srgbClr val="1E293B"/>
                </a:solidFill>
              </a:defRPr>
            </a:pPr>
            <a:r>
              <a:rPr sz="2000"/>
              <a:t>Module 6: Analytics Dashboard</a:t>
            </a:r>
            <a:endParaRPr sz="2000"/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sz="1600"/>
              <a:t>Kanban deal pipeline board and automated follow-up feed received great praise.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CONTINUOUS IMPROVEMENT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UAT Feedback Resolutions &amp; System Hardening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392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293B"/>
                </a:solidFill>
              </a:defRPr>
            </a:pPr>
            <a:r>
              <a:rPr sz="2400"/>
              <a:t>🛠 Feedback Captured &amp; Action Taken During Day 29 Testing</a:t>
            </a:r>
            <a:endParaRPr sz="2400"/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rPr sz="1800"/>
              <a:t>•  Observation 1: Missing Groq Model Environment Variable Override</a:t>
            </a:r>
            <a:endParaRPr sz="1800"/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sz="1600"/>
              <a:t>   Issue: When GROQ_MODEL was not explicitly set, some fallback calls defaulted to older model IDs.</a:t>
            </a:r>
            <a:endParaRPr sz="1600"/>
          </a:p>
          <a:p>
            <a:pPr>
              <a:spcAft>
                <a:spcPts val="600"/>
              </a:spcAft>
              <a:defRPr sz="950">
                <a:solidFill>
                  <a:srgbClr val="16A34A"/>
                </a:solidFill>
              </a:defRPr>
            </a:pPr>
            <a:r>
              <a:rPr sz="1600"/>
              <a:t>   Action: Resolved: Standardized default GROQ_MODEL across all AI modules (modules 2, 3, 4, 5) with unified fallback.</a:t>
            </a:r>
            <a:endParaRPr sz="1600"/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rPr sz="1800"/>
              <a:t>•  Observation 2: Long Call Transcript Summarization Formatting</a:t>
            </a:r>
            <a:endParaRPr sz="1800"/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sz="1600"/>
              <a:t>   Issue: Users pasted unstructured raw meeting transcripts with messy formatting.</a:t>
            </a:r>
            <a:endParaRPr sz="1600"/>
          </a:p>
          <a:p>
            <a:pPr>
              <a:spcAft>
                <a:spcPts val="600"/>
              </a:spcAft>
              <a:defRPr sz="950">
                <a:solidFill>
                  <a:srgbClr val="16A34A"/>
                </a:solidFill>
              </a:defRPr>
            </a:pPr>
            <a:r>
              <a:rPr sz="1600"/>
              <a:t>   Action: Resolved: Added text sanitization and structured prompt formatting for crisp action item bulleting.</a:t>
            </a:r>
            <a:endParaRPr sz="1600"/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rPr sz="1800"/>
              <a:t>•  Observation 3: Deal Value Pipeline Aggregation Null Safety</a:t>
            </a:r>
            <a:endParaRPr sz="1800"/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sz="1600"/>
              <a:t>   Issue: Leads with unset deal values could cause NoneType addition in pipeline summaries.</a:t>
            </a:r>
            <a:endParaRPr sz="1600"/>
          </a:p>
          <a:p>
            <a:pPr>
              <a:spcAft>
                <a:spcPts val="600"/>
              </a:spcAft>
              <a:defRPr sz="950">
                <a:solidFill>
                  <a:srgbClr val="16A34A"/>
                </a:solidFill>
              </a:defRPr>
            </a:pPr>
            <a:r>
              <a:rPr sz="1600"/>
              <a:t>   Action: Resolved: Added coalesce deal_value default to $0 for robust calculations across all dashboard cards.</a:t>
            </a:r>
            <a:endParaRPr sz="1600"/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rPr sz="1800"/>
              <a:t>•  Observation 4: Streamlit UI Notification Clarity</a:t>
            </a:r>
            <a:endParaRPr sz="1800"/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sz="1600"/>
              <a:t>   Issue: Users requested visual confirmation when campaigns or CRM syncs were completed.</a:t>
            </a:r>
            <a:endParaRPr sz="1600"/>
          </a:p>
          <a:p>
            <a:pPr>
              <a:spcAft>
                <a:spcPts val="600"/>
              </a:spcAft>
              <a:defRPr sz="950">
                <a:solidFill>
                  <a:srgbClr val="16A34A"/>
                </a:solidFill>
              </a:defRPr>
            </a:pPr>
            <a:r>
              <a:rPr sz="1600"/>
              <a:t>   Action: Resolved: Added clear green toast/alert confirmations across AI outreach and conversation tabs.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97135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FFFFFF"/>
                </a:solidFill>
              </a:defRPr>
            </a:pPr>
            <a:r>
              <a:t>Day 29 Task Successfully Completed &amp; Verified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✔  Full Regression Test Suite: 100% Pass Rate (All 6 modules &amp; auth verified with zero regressions).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✔  User Acceptance Testing (UAT): 100% Task Completion across 15 real sales user participants.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✔  Satisfaction Target Exceeded: Captured 91.3% CSAT and 88.5 SUS (Target was &gt;=85%).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✔  Repository &amp; Documentation: Codebase fully committed, synced to GitHub, and verified.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</a:defRPr>
            </a:pPr>
            <a:r>
              <a:t>✔  Ready for Day 30 Final Milestone: Deployment to production/staging, final live demo &amp; handover.</a:t>
            </a:r>
          </a:p>
          <a:p>
            <a:pPr>
              <a:defRPr sz="1600" b="1">
                <a:solidFill>
                  <a:srgbClr val="38BDF8"/>
                </a:solidFill>
              </a:defRPr>
            </a:pP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8698</Words>
  <Application>WPS Presentation</Application>
  <PresentationFormat>On-screen Show (4:3)</PresentationFormat>
  <Paragraphs>205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divib</cp:lastModifiedBy>
  <cp:revision>2</cp:revision>
  <dcterms:created xsi:type="dcterms:W3CDTF">2013-01-27T09:14:00Z</dcterms:created>
  <dcterms:modified xsi:type="dcterms:W3CDTF">2026-09-02T15:35:31Z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AE5F3104B250407B8470158344454FE9_13</vt:lpwstr>
  </property>
</Properties>
</file>