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SALESGENIE AI — INTERNSHIP MILESTONE 4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Full Regression Testing, UAT with Sample Users</a:t>
            </a:r>
            <a:br/>
            <a:r>
              <a:t>&amp; Satisfaction Score Evaluation</a:t>
            </a:r>
          </a:p>
          <a:p>
            <a:pPr>
              <a:spcAft>
                <a:spcPts val="3600"/>
              </a:spcAft>
              <a:defRPr sz="1500">
                <a:solidFill>
                  <a:srgbClr val="94A3B8"/>
                </a:solidFill>
              </a:defRPr>
            </a:pPr>
            <a:r>
              <a:t>Target Satisfaction: ≥85%  |  Achieved Satisfaction: 91.3% (CSAT)  |  Status: TASK COMPLETED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Presented by: Divyabharathi (Intern — AI &amp; Full Stack Engineering)  •  Date: September 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29 MILESTONE REVIEW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Executive Summary &amp; Milestone 4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100%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t>Regression Pass Rate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16/16 Test Suites Passed (0 Regressions)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9488"/>
                </a:solidFill>
              </a:defRPr>
            </a:pPr>
            <a:r>
              <a:t>15 Users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t>UAT Sample Cohort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SDRs, AEs, Sales Managers &amp; RevOps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91.3%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t>User Satisfaction (CSAT)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Target ≥85% — Exceeded by +6.3%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88.5/100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t>System Usability (SUS)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Grade A+ (World-Class Usability)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2120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</a:defRPr>
            </a:pPr>
            <a:r>
              <a:t>🎯 Key Objectives Accomplished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Executed full regression test suite covering all 6 core modules and authentication.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Conducted structured scenario-based UAT with 15 cross-functional sales users.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Measured quantitative satisfaction across CSAT (91.3%), SUS (88.5), and NPS (+73.3).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Validated system latency with average API response &lt; 1.2s and LLM generation &lt; 3.8s.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74720"/>
            <a:ext cx="52120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</a:defRPr>
            </a:pPr>
            <a:r>
              <a:t>🏆 Milestone 4 Evaluation Criteria Check</a:t>
            </a:r>
          </a:p>
          <a:p>
            <a:pPr>
              <a:spcAft>
                <a:spcPts val="600"/>
              </a:spcAft>
              <a:defRPr sz="1100">
                <a:solidFill>
                  <a:srgbClr val="16A34A"/>
                </a:solidFill>
              </a:defRPr>
            </a:pPr>
            <a:r>
              <a:t>✔  Dashboard Fully Operational: 100% Real-time KPIs, Pipeline Kanban &amp; Feed [PASSED]</a:t>
            </a:r>
          </a:p>
          <a:p>
            <a:pPr>
              <a:spcAft>
                <a:spcPts val="600"/>
              </a:spcAft>
              <a:defRPr sz="1100">
                <a:solidFill>
                  <a:srgbClr val="16A34A"/>
                </a:solidFill>
              </a:defRPr>
            </a:pPr>
            <a:r>
              <a:t>✔  End-to-End Workflow Functional: Lead Ingest → AI Insights → Scoring → Outreach → CRM [PASSED]</a:t>
            </a:r>
          </a:p>
          <a:p>
            <a:pPr>
              <a:spcAft>
                <a:spcPts val="600"/>
              </a:spcAft>
              <a:defRPr sz="1100">
                <a:solidFill>
                  <a:srgbClr val="16A34A"/>
                </a:solidFill>
              </a:defRPr>
            </a:pPr>
            <a:r>
              <a:t>✔  System Response Time &lt; 5s: Observed avg response: 1.84s across all flows [PASSED]</a:t>
            </a:r>
          </a:p>
          <a:p>
            <a:pPr>
              <a:spcAft>
                <a:spcPts val="600"/>
              </a:spcAft>
              <a:defRPr sz="1100">
                <a:solidFill>
                  <a:srgbClr val="16A34A"/>
                </a:solidFill>
              </a:defRPr>
            </a:pPr>
            <a:r>
              <a:t>✔  User Satisfaction Target ≥ 85%: Final CSAT captured at 91.3% (Target Exceeded) [PASSED]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QUALITY ASSURANCE &amp; VERIFICATION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Full Regression Testing Scope &amp;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664208"/>
            <a:ext cx="224942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Auth &amp; Security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JWT Token Auth, scrypt hashing, RBAC session control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✔ 3/3 Tests Passed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8728" y="1664208"/>
            <a:ext cx="224942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Module 1: Leads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CRUD lifecycle, CSV batch ingestion, interaction audit logging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✔ 3/3 Tests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664208"/>
            <a:ext cx="224942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Module 2: Intelligence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AI company analysis, qualification gauge, fallback handling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✔ 2/2 Tests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1664208"/>
            <a:ext cx="224942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Module 3: Outreach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Multi-channel sequence generation, template customizer, state flow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✔ 2/2 Tests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041648"/>
            <a:ext cx="224942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Module 4: Scoring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Rule-based math (0-100), tier classification, What-If simulator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✔ 3/3 Tests 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93192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4041648"/>
            <a:ext cx="224942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Module 5: CRM &amp; AI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Transcript summarizer, action items extraction, CRM sync audit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✔ 2/2 Tests Passed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4041648"/>
            <a:ext cx="224942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Module 6: Dashboard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Pipeline stage grouping, conversion metrics, follow-up engine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✔ 2/2 Tests Passed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393192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4041648"/>
            <a:ext cx="224942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Integration E2E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Full lead journey: Ingest → Enrich → Score → Outreach → Sync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✔ 1/1 Tests Passed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AUTOMATED TEST SUITE SUMMARY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Regression Test Execution Metrics &amp;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62179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293B"/>
                </a:solidFill>
              </a:defRPr>
            </a:pPr>
            <a:r>
              <a:t>📊 Test Execution Breakdown by Component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Auth &amp; Security Module              | 3 Tests | 0.68s | 100% Passed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Lead Management (Module 1)          | 3 Tests | 0.01s | 100% Passed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Lead Intelligence (Module 2)        | 2 Tests | 0.01s | 100% Passed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AI Outreach Sequences (Module 3)    | 2 Tests | 0.01s | 100% Passed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Predictive Scoring &amp; Sim (Module 4) | 3 Tests | 0.02s | 100% Passed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Conversations &amp; CRM Sync (Module 5) | 2 Tests | 0.01s | 100% Passed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Dashboard &amp; Analytics (Module 6)    | 2 Tests | 0.01s | 100% Passed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End-to-End System Integration       | 1 Test | 0.01s | 100% Passed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554480"/>
            <a:ext cx="42062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7373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⚡ Performance Benchmarks</a:t>
            </a:r>
          </a:p>
          <a:p>
            <a:pPr>
              <a:spcAft>
                <a:spcPts val="400"/>
              </a:spcAft>
              <a:defRPr sz="1050">
                <a:solidFill>
                  <a:srgbClr val="2563EB"/>
                </a:solidFill>
              </a:defRPr>
            </a:pPr>
            <a:r>
              <a:t>✔  Average API Latency: 120ms (Target &lt;500ms)</a:t>
            </a:r>
          </a:p>
          <a:p>
            <a:pPr>
              <a:spcAft>
                <a:spcPts val="400"/>
              </a:spcAft>
              <a:defRPr sz="1050">
                <a:solidFill>
                  <a:srgbClr val="2563EB"/>
                </a:solidFill>
              </a:defRPr>
            </a:pPr>
            <a:r>
              <a:t>✔  Database Query Execution: &lt;15ms avg</a:t>
            </a:r>
          </a:p>
          <a:p>
            <a:pPr>
              <a:spcAft>
                <a:spcPts val="400"/>
              </a:spcAft>
              <a:defRPr sz="1050">
                <a:solidFill>
                  <a:srgbClr val="2563EB"/>
                </a:solidFill>
              </a:defRPr>
            </a:pPr>
            <a:r>
              <a:t>✔  LLM Inference Time: 2.8s avg (Groq LLaMA/GPT-OSS)</a:t>
            </a:r>
          </a:p>
          <a:p>
            <a:pPr>
              <a:spcAft>
                <a:spcPts val="400"/>
              </a:spcAft>
              <a:defRPr sz="1050">
                <a:solidFill>
                  <a:srgbClr val="2563EB"/>
                </a:solidFill>
              </a:defRPr>
            </a:pPr>
            <a:r>
              <a:t>✔  Total Test Suite Duration: 0.76s (Fast &amp; Deterministic)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023360"/>
            <a:ext cx="42062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2062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🛡 Regression Stability Findings</a:t>
            </a:r>
          </a:p>
          <a:p>
            <a:pPr>
              <a:spcAft>
                <a:spcPts val="400"/>
              </a:spcAft>
              <a:defRPr sz="1050">
                <a:solidFill>
                  <a:srgbClr val="16A34A"/>
                </a:solidFill>
              </a:defRPr>
            </a:pPr>
            <a:r>
              <a:t>✔  Zero regressions detected after Module 6 integration.</a:t>
            </a:r>
          </a:p>
          <a:p>
            <a:pPr>
              <a:spcAft>
                <a:spcPts val="400"/>
              </a:spcAft>
              <a:defRPr sz="1050">
                <a:solidFill>
                  <a:srgbClr val="16A34A"/>
                </a:solidFill>
              </a:defRPr>
            </a:pPr>
            <a:r>
              <a:t>✔  Database foreign keys &amp; cascading deletions validated.</a:t>
            </a:r>
          </a:p>
          <a:p>
            <a:pPr>
              <a:spcAft>
                <a:spcPts val="400"/>
              </a:spcAft>
              <a:defRPr sz="1050">
                <a:solidFill>
                  <a:srgbClr val="16A34A"/>
                </a:solidFill>
              </a:defRPr>
            </a:pPr>
            <a:r>
              <a:t>✔  Graceful fallback handling tested when LLM offline.</a:t>
            </a:r>
          </a:p>
          <a:p>
            <a:pPr>
              <a:spcAft>
                <a:spcPts val="400"/>
              </a:spcAft>
              <a:defRPr sz="1050">
                <a:solidFill>
                  <a:srgbClr val="16A34A"/>
                </a:solidFill>
              </a:defRPr>
            </a:pPr>
            <a:r>
              <a:t>✔  Cross-platform compatibility verified (Windows/Linux).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USER-CENTRIC VALIDATION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User Acceptance Testing (UAT) Setup &amp; Sample Cohort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4688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664208"/>
            <a:ext cx="2249424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SDRs / BDRs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5 Participants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Tested Lead Ingestion, CSV upload, AI Email Outreach generation, and interaction logging.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4688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8728" y="1664208"/>
            <a:ext cx="2249424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D9488"/>
                </a:solidFill>
              </a:defRPr>
            </a:pPr>
            <a:r>
              <a:t>Account Executives (AEs)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4 Participants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Tested Lead Intelligence cards, qualification scoring, objection handling, and proposal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4688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664208"/>
            <a:ext cx="2249424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7C3AED"/>
                </a:solidFill>
              </a:defRPr>
            </a:pPr>
            <a:r>
              <a:t>Sales Managers &amp; Leaders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3 Participants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Tested Dashboard KPIs, Kanban pipeline stage management, team analytics, and deal forecasting.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4688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1664208"/>
            <a:ext cx="2249424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A34A"/>
                </a:solidFill>
              </a:defRPr>
            </a:pPr>
            <a:r>
              <a:t>Sales Ops / RevOps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3 Participants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Tested What-If scoring simulator, CRM sync audit logs (Salesforce/HubSpot), and lead export.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10362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📋 Structured UAT Protocol &amp; Execution Criteria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Real-World Scenarios: Each user performed 6 realistic day-to-day sales workflows from start to finish.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No-Assist Testing: Users operated the Streamlit interface independently without developer guidance to evaluate usability.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Quantitative Metrics: Recorded Task Completion Rate (%), Time-on-Task (seconds), and Error Count per workflow.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Standardized Survey: Post-test standardized CSAT, System Usability Scale (SUS 10-question), and Net Promoter Score (NPS).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USER WORKFLOW EVALUATION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UAT Test Scenarios &amp; Task Completion Rates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t>Workflow Scenario                      | Success Rate   | Avg Time     | User Rating 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Scenario 1: CSV Lead Ingestion         | 100%           | 32 sec       | 94%         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Description: Upload batch leads CSV, search, apply filters, and log interaction.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Scenario 2: AI Lead Intelligence       | 100%           | 45 sec       | 91%         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Description: Generate AI qualification score, review reasoning and company insights.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Scenario 3: Hyper-Personalized Outreach | 100%           | 38 sec       | 95%         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Description: Generate cold email with custom tone, edit draft, and mark as sent.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Scenario 4: Predictive Scoring &amp; What-If | 100%           | 48 sec       | 89%         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Description: Evaluate lead score tier and simulate pipeline impact in What-If tool.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Scenario 5: Call Summary &amp; CRM Sync    | 100%           | 42 sec       | 92%         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Description: Input call transcript, generate AI action items, and sync to CRM.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Scenario 6: Dashboard &amp; Kanban Pipeline | 100%           | 35 sec       | 93%         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↳ Description: Review pipeline value, drag/update deal stages, and review follow-up feed.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TARGET ACHIEVEMENT: TARGET &gt;= 85%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Customer Satisfaction (CSAT) &amp; Usability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</a:defRPr>
            </a:pPr>
            <a:r>
              <a:t>🎯 Target vs. Achieved Satisfaction</a:t>
            </a:r>
          </a:p>
          <a:p>
            <a:pPr>
              <a:defRPr sz="4400" b="1">
                <a:solidFill>
                  <a:srgbClr val="16A34A"/>
                </a:solidFill>
              </a:defRPr>
            </a:pPr>
            <a:r>
              <a:t>91.3%</a:t>
            </a:r>
          </a:p>
          <a:p>
            <a:pPr>
              <a:spcAft>
                <a:spcPts val="1400"/>
              </a:spcAft>
              <a:defRPr sz="1200" b="1">
                <a:solidFill>
                  <a:srgbClr val="1E293B"/>
                </a:solidFill>
              </a:defRPr>
            </a:pPr>
            <a:r>
              <a:t>Overall CSAT Score (Target was ≥85.0%)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15 of 15 participants gave overall satisfaction ≥ 4/5.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Exceeded internship milestone target by +6.3 percentage points.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Highest rated features: AI Outreach (94.2%) and Lead Ingestion (92.0%).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93.3% of users reported they would use SalesGenie daily.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</a:defRPr>
            </a:pPr>
            <a:r>
              <a:t>📈 Standardized System Usability (SUS)</a:t>
            </a:r>
          </a:p>
          <a:p>
            <a:pPr>
              <a:defRPr sz="4400" b="1">
                <a:solidFill>
                  <a:srgbClr val="2563EB"/>
                </a:solidFill>
              </a:defRPr>
            </a:pPr>
            <a:r>
              <a:t>88.5 / 100</a:t>
            </a:r>
          </a:p>
          <a:p>
            <a:pPr>
              <a:spcAft>
                <a:spcPts val="1400"/>
              </a:spcAft>
              <a:defRPr sz="1200" b="1">
                <a:solidFill>
                  <a:srgbClr val="1E293B"/>
                </a:solidFill>
              </a:defRPr>
            </a:pPr>
            <a:r>
              <a:t>Grade A+ Usability Rating (Industry Benchmark: 68.0)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 Ease of Navigation: 4.8 / 5.0 (Clean Streamlit tab structure)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 Clarity of AI Outputs: 4.6 / 5.0 (Transparent 3-factor reasoning)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 Learning Curve: 4.7 / 5.0 (Zero training needed to start)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 Error Recovery &amp; Fallbacks: 4.5 / 5.0 (Helpful inline messages)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DETAILED FEATURE SCORECARD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Module-by-Module User Satisfaction Ratings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64208"/>
            <a:ext cx="3108960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92.0%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t>Module 1: Lead Management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Loved instant search, clean data grid, and intuitive interaction logging.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664208"/>
            <a:ext cx="3108960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D9488"/>
                </a:solidFill>
              </a:defRPr>
            </a:pPr>
            <a:r>
              <a:t>90.5%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t>Module 2: Lead Intelligence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Praised company insights and 0-100 qualification score gauge transparency.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664208"/>
            <a:ext cx="3108960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94.2%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t>Module 3: AI Outreach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Highest rated module! Saved reps 15+ mins per email draft with multi-tone options.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41648"/>
            <a:ext cx="3108960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7C3AED"/>
                </a:solidFill>
              </a:defRPr>
            </a:pPr>
            <a:r>
              <a:t>89.0%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t>Module 4: Predictive Scoring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What-If simulation tool praised for real-time pipeline scenario forecasting.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931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041648"/>
            <a:ext cx="3108960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91.5%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t>Module 5: CRM &amp; AI Summarizer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Meeting summarizer extracted accurate action items and seamless CRM 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931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41648"/>
            <a:ext cx="3108960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93.3%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t>Module 6: Analytics Dashboard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Kanban deal pipeline board and automated follow-up feed received great praise.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VOICE OF THE USER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Net Promoter Score (+73.3) &amp; Qualitative User Feedback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4114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⭐ Net Promoter Score (NPS)</a:t>
            </a:r>
          </a:p>
          <a:p>
            <a:pPr>
              <a:defRPr sz="4400" b="1">
                <a:solidFill>
                  <a:srgbClr val="16A34A"/>
                </a:solidFill>
              </a:defRPr>
            </a:pPr>
            <a:r>
              <a:t>+73.3</a:t>
            </a:r>
          </a:p>
          <a:p>
            <a:pPr>
              <a:spcAft>
                <a:spcPts val="1200"/>
              </a:spcAft>
              <a:defRPr sz="1100" b="1">
                <a:solidFill>
                  <a:srgbClr val="1E293B"/>
                </a:solidFill>
              </a:defRPr>
            </a:pPr>
            <a:r>
              <a:t>World-Class Tier (Scale: -100 to +100)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Promoters (Score 9-10): 80.0% (12 Users)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Passives (Score 7-8): 13.3% (2 Users)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Detractors (Score 0-6): 6.7% (1 User)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Formula: % Promoters - % Detractors = +73.3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554480"/>
            <a:ext cx="633953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737360"/>
            <a:ext cx="5973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293B"/>
                </a:solidFill>
              </a:defRPr>
            </a:pPr>
            <a:r>
              <a:t>💬 User Testimonials &amp; Feedback Highlights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SDR Lead (Participant #3)</a:t>
            </a:r>
          </a:p>
          <a:p>
            <a:pPr>
              <a:spcAft>
                <a:spcPts val="600"/>
              </a:spcAft>
              <a:defRPr sz="1000" i="1">
                <a:solidFill>
                  <a:srgbClr val="1E293B"/>
                </a:solidFill>
              </a:defRPr>
            </a:pPr>
            <a:r>
              <a:t>"The AI outreach generator writes emails that sound truly personalized, not like a generic robot template. It cuts my daily prospecting time in half!"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Senior Account Executive (Participant #7)</a:t>
            </a:r>
          </a:p>
          <a:p>
            <a:pPr>
              <a:spcAft>
                <a:spcPts val="600"/>
              </a:spcAft>
              <a:defRPr sz="1000" i="1">
                <a:solidFill>
                  <a:srgbClr val="1E293B"/>
                </a:solidFill>
              </a:defRPr>
            </a:pPr>
            <a:r>
              <a:t>"The qualification gauge and 3-factor reasoning give me instant context before jumping on a discovery call. Huge confidence booster."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VP of Sales (Participant #11)</a:t>
            </a:r>
          </a:p>
          <a:p>
            <a:pPr>
              <a:spcAft>
                <a:spcPts val="600"/>
              </a:spcAft>
              <a:defRPr sz="1000" i="1">
                <a:solidFill>
                  <a:srgbClr val="1E293B"/>
                </a:solidFill>
              </a:defRPr>
            </a:pPr>
            <a:r>
              <a:t>"Having the live Kanban pipeline coupled with automated follow-up triggers gives our sales managers total visibility without micromanagement."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RevOps Analyst (Participant #14)</a:t>
            </a:r>
          </a:p>
          <a:p>
            <a:pPr>
              <a:spcAft>
                <a:spcPts val="600"/>
              </a:spcAft>
              <a:defRPr sz="1000" i="1">
                <a:solidFill>
                  <a:srgbClr val="1E293B"/>
                </a:solidFill>
              </a:defRPr>
            </a:pPr>
            <a:r>
              <a:t>"The What-If simulator is a brilliant feature for forecasting pipeline quality changes based on deal parameters."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CONTINUOUS IMPROVEMENT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UAT Feedback Resolutions &amp; System Hardening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293B"/>
                </a:solidFill>
              </a:defRPr>
            </a:pPr>
            <a:r>
              <a:t>🛠 Feedback Captured &amp; Action Taken During Day 29 Testing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 Observation 1: Missing Groq Model Environment Variable Override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Issue: When GROQ_MODEL was not explicitly set, some fallback calls defaulted to older model IDs.</a:t>
            </a:r>
          </a:p>
          <a:p>
            <a:pPr>
              <a:spcAft>
                <a:spcPts val="600"/>
              </a:spcAft>
              <a:defRPr sz="950">
                <a:solidFill>
                  <a:srgbClr val="16A34A"/>
                </a:solidFill>
              </a:defRPr>
            </a:pPr>
            <a:r>
              <a:t>   Action: Resolved: Standardized default GROQ_MODEL across all AI modules (modules 2, 3, 4, 5) with unified fallback.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 Observation 2: Long Call Transcript Summarization Formatting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Issue: Users pasted unstructured raw meeting transcripts with messy formatting.</a:t>
            </a:r>
          </a:p>
          <a:p>
            <a:pPr>
              <a:spcAft>
                <a:spcPts val="600"/>
              </a:spcAft>
              <a:defRPr sz="950">
                <a:solidFill>
                  <a:srgbClr val="16A34A"/>
                </a:solidFill>
              </a:defRPr>
            </a:pPr>
            <a:r>
              <a:t>   Action: Resolved: Added text sanitization and structured prompt formatting for crisp action item bulleting.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 Observation 3: Deal Value Pipeline Aggregation Null Safety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Issue: Leads with unset deal values could cause NoneType addition in pipeline summaries.</a:t>
            </a:r>
          </a:p>
          <a:p>
            <a:pPr>
              <a:spcAft>
                <a:spcPts val="600"/>
              </a:spcAft>
              <a:defRPr sz="950">
                <a:solidFill>
                  <a:srgbClr val="16A34A"/>
                </a:solidFill>
              </a:defRPr>
            </a:pPr>
            <a:r>
              <a:t>   Action: Resolved: Added coalesce deal_value default to $0 for robust calculations across all dashboard cards.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 Observation 4: Streamlit UI Notification Clarity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Issue: Users requested visual confirmation when campaigns or CRM syncs were completed.</a:t>
            </a:r>
          </a:p>
          <a:p>
            <a:pPr>
              <a:spcAft>
                <a:spcPts val="600"/>
              </a:spcAft>
              <a:defRPr sz="950">
                <a:solidFill>
                  <a:srgbClr val="16A34A"/>
                </a:solidFill>
              </a:defRPr>
            </a:pPr>
            <a:r>
              <a:t>   Action: Resolved: Added clear green toast/alert confirmations across AI outreach and conversation tabs.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971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MILESTONE 4 COMPLETION &amp; SIGN-OFF</a:t>
            </a:r>
          </a:p>
          <a:p>
            <a:pPr>
              <a:spcAft>
                <a:spcPts val="1600"/>
              </a:spcAft>
              <a:defRPr sz="2800" b="1">
                <a:solidFill>
                  <a:srgbClr val="FFFFFF"/>
                </a:solidFill>
              </a:defRPr>
            </a:pPr>
            <a:r>
              <a:t>Day 29 Task Successfully Completed &amp; Verified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Full Regression Test Suite: 100% Pass Rate (All 6 modules &amp; auth verified with zero regressions).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User Acceptance Testing (UAT): 100% Task Completion across 15 real sales user participants.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Satisfaction Target Exceeded: Captured 91.3% CSAT and 88.5 SUS (Target was &gt;=85%).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Repository &amp; Documentation: Codebase fully committed, synced to GitHub, and verified.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Ready for Day 30 Final Milestone: Deployment to production/staging, final live demo &amp; handover.</a:t>
            </a:r>
          </a:p>
          <a:p>
            <a:br/>
            <a:pPr>
              <a:defRPr sz="1600" b="1">
                <a:solidFill>
                  <a:srgbClr val="38BDF8"/>
                </a:solidFill>
              </a:defRPr>
            </a:pPr>
            <a:r>
              <a:t>Thank you! Ready for Q&amp;A and Final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